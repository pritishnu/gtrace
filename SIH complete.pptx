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8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30" y="5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4\9\26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4\9\26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4\9\26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4\9\26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4\9\26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4\9\26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4\9\26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4\9\26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4\9\26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4\9\26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4\9\26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4\9\26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4\9\26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dspace.library.uu.nl/bitstream/handle/1874/356185/01.NERclinjournal.pdf?sequence=1" TargetMode="External"/><Relationship Id="rId4" Type="http://schemas.openxmlformats.org/officeDocument/2006/relationships/hyperlink" Target="https://digital.cic.gba.gob.ar/server/api/core/bitstreams/6bdf5e45-2f17-4db6-af51-062abafe4743/conten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283287"/>
            <a:ext cx="5744002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ID- </a:t>
            </a:r>
            <a:r>
              <a:rPr lang="en-US" sz="2400" b="1" dirty="0">
                <a:solidFill>
                  <a:srgbClr val="010000"/>
                </a:solidFill>
                <a:highlight>
                  <a:srgbClr val="9BBB59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SIH</a:t>
            </a:r>
            <a:r>
              <a:rPr lang="en-US" sz="2400" b="1" dirty="0">
                <a:solidFill>
                  <a:srgbClr val="010000"/>
                </a:solidFill>
                <a:highlight>
                  <a:srgbClr val="9BBB59"/>
                </a:highlight>
                <a:latin typeface="Bookman Old Style" panose="02050604050505020204" pitchFamily="18" charset="0"/>
              </a:rPr>
              <a:t>26189</a:t>
            </a:r>
            <a:endParaRPr lang="en-US" sz="2400" b="1" dirty="0">
              <a:solidFill>
                <a:srgbClr val="010000"/>
              </a:solidFill>
              <a:highlight>
                <a:srgbClr val="9BBB59"/>
              </a:highlight>
              <a:latin typeface="Bookman Old Style" panose="020506040505050202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>
                <a:highlight>
                  <a:srgbClr val="9BBB59"/>
                </a:highlight>
              </a:rPr>
              <a:t>AI-Powered Criminal Network Analysis System</a:t>
            </a:r>
            <a:endParaRPr lang="en-US" sz="2400" b="1" dirty="0">
              <a:highlight>
                <a:srgbClr val="9BBB59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>
                <a:highlight>
                  <a:srgbClr val="9BBB59"/>
                </a:highlight>
              </a:rPr>
              <a:t>Blockchain &amp; Cybersecurity</a:t>
            </a:r>
            <a:endParaRPr lang="en-US" sz="2400" b="1" dirty="0">
              <a:highlight>
                <a:srgbClr val="9BBB59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highlight>
                  <a:srgbClr val="9BBB59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Gits N’ Roses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143000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Gits N’ Roses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83E3F6-2B93-5EAA-4B4A-9C03ADA728C7}"/>
              </a:ext>
            </a:extLst>
          </p:cNvPr>
          <p:cNvSpPr/>
          <p:nvPr/>
        </p:nvSpPr>
        <p:spPr>
          <a:xfrm>
            <a:off x="5670431" y="3393367"/>
            <a:ext cx="6338569" cy="1989516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</a:rPr>
              <a:t>Detailed explanation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10000"/>
                </a:solidFill>
              </a:rPr>
              <a:t>Collect and process data from multiple sources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10000"/>
                </a:solidFill>
              </a:rPr>
              <a:t>Extract important entities: people, locations, vehicles, phone numbers, organizations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10000"/>
                </a:solidFill>
              </a:rPr>
              <a:t>Build relationship maps showing how entities are connected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10000"/>
                </a:solidFill>
              </a:rPr>
              <a:t>Identify key individuals who play influential roles in the network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10000"/>
                </a:solidFill>
              </a:rPr>
              <a:t>Detect suspicious patterns and unusual activities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10000"/>
                </a:solidFill>
              </a:rPr>
              <a:t>Provide visual and analytical insights to investigators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95AF12-8372-F5B2-E97A-A04AF6545554}"/>
              </a:ext>
            </a:extLst>
          </p:cNvPr>
          <p:cNvSpPr/>
          <p:nvPr/>
        </p:nvSpPr>
        <p:spPr>
          <a:xfrm>
            <a:off x="5670431" y="1806938"/>
            <a:ext cx="6359505" cy="150726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</a:rPr>
              <a:t>How it addresses the problem</a:t>
            </a:r>
            <a:r>
              <a:rPr lang="en-US" sz="1600" dirty="0">
                <a:solidFill>
                  <a:schemeClr val="tx1"/>
                </a:solidFill>
              </a:rPr>
              <a:t>: Investigators </a:t>
            </a: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currently</a:t>
            </a:r>
            <a:r>
              <a:rPr lang="en-US" sz="1600" dirty="0">
                <a:solidFill>
                  <a:schemeClr val="tx1"/>
                </a:solidFill>
              </a:rPr>
              <a:t> rely on manual cross-referencing of thousands of documents, which is slow and misses connections. Our system automates entity extraction and </a:t>
            </a: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relationship</a:t>
            </a:r>
            <a:r>
              <a:rPr lang="en-US" sz="1600" dirty="0">
                <a:solidFill>
                  <a:schemeClr val="tx1"/>
                </a:solidFill>
              </a:rPr>
              <a:t> discovery, surfacing hidden links and ranking individuals by network importance — cutting investigation time and reducing missed connections.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B71573E-A0B1-322F-A5FD-FEEFB1B94281}"/>
              </a:ext>
            </a:extLst>
          </p:cNvPr>
          <p:cNvSpPr/>
          <p:nvPr/>
        </p:nvSpPr>
        <p:spPr>
          <a:xfrm>
            <a:off x="5670431" y="5462047"/>
            <a:ext cx="6338570" cy="1259431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010000"/>
                </a:solidFill>
              </a:rPr>
              <a:t>Innovation/uniqueness</a:t>
            </a:r>
            <a:r>
              <a:rPr lang="en-US" sz="1600" dirty="0">
                <a:solidFill>
                  <a:srgbClr val="010000"/>
                </a:solidFill>
              </a:rPr>
              <a:t>: Combines pretrained NLP (</a:t>
            </a:r>
            <a:r>
              <a:rPr lang="en-US" sz="1600" dirty="0" err="1">
                <a:solidFill>
                  <a:srgbClr val="010000"/>
                </a:solidFill>
              </a:rPr>
              <a:t>spaCy</a:t>
            </a:r>
            <a:r>
              <a:rPr lang="en-US" sz="1600" dirty="0">
                <a:solidFill>
                  <a:srgbClr val="010000"/>
                </a:solidFill>
              </a:rPr>
              <a:t>) for entity extraction with graph theory (</a:t>
            </a:r>
            <a:r>
              <a:rPr lang="en-US" sz="1600" dirty="0" err="1">
                <a:solidFill>
                  <a:srgbClr val="010000"/>
                </a:solidFill>
              </a:rPr>
              <a:t>NetworkX</a:t>
            </a:r>
            <a:r>
              <a:rPr lang="en-US" sz="1600" dirty="0">
                <a:solidFill>
                  <a:srgbClr val="010000"/>
                </a:solidFill>
              </a:rPr>
              <a:t> centrality algorithms) for influence scoring, delivered through an interactive visual dashboard rather than requiring investigators to read raw reports.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4E0B72-832C-96CE-96C9-B4B17A210CD7}"/>
              </a:ext>
            </a:extLst>
          </p:cNvPr>
          <p:cNvSpPr/>
          <p:nvPr/>
        </p:nvSpPr>
        <p:spPr>
          <a:xfrm>
            <a:off x="182998" y="1806938"/>
            <a:ext cx="5341898" cy="488048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</a:rPr>
              <a:t>The Problem:</a:t>
            </a:r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Criminal networks today are organized and interconnected — spanning associates, financial channels, communication links, and locations. Law enforcement has the data to catch them, but it's scattered across seven disconnected sources:</a:t>
            </a:r>
          </a:p>
          <a:p>
            <a:pPr lvl="0"/>
            <a:r>
              <a:rPr lang="en-US" sz="1600" dirty="0">
                <a:solidFill>
                  <a:schemeClr val="tx1"/>
                </a:solidFill>
              </a:rPr>
              <a:t>FIRs &amp; police reports</a:t>
            </a:r>
          </a:p>
          <a:p>
            <a:pPr lvl="0"/>
            <a:r>
              <a:rPr lang="en-US" sz="1600" dirty="0">
                <a:solidFill>
                  <a:schemeClr val="tx1"/>
                </a:solidFill>
              </a:rPr>
              <a:t>Call Detail Records (CDRs)</a:t>
            </a:r>
          </a:p>
          <a:p>
            <a:pPr lvl="0"/>
            <a:r>
              <a:rPr lang="en-US" sz="1600" dirty="0">
                <a:solidFill>
                  <a:schemeClr val="tx1"/>
                </a:solidFill>
              </a:rPr>
              <a:t>Financial transaction records</a:t>
            </a:r>
          </a:p>
          <a:p>
            <a:pPr lvl="0"/>
            <a:r>
              <a:rPr lang="en-US" sz="1600" dirty="0">
                <a:solidFill>
                  <a:schemeClr val="tx1"/>
                </a:solidFill>
              </a:rPr>
              <a:t>Surveillance reports</a:t>
            </a:r>
          </a:p>
          <a:p>
            <a:pPr lvl="0"/>
            <a:r>
              <a:rPr lang="en-US" sz="1600" dirty="0">
                <a:solidFill>
                  <a:schemeClr val="tx1"/>
                </a:solidFill>
              </a:rPr>
              <a:t>Social media intelligence</a:t>
            </a:r>
          </a:p>
          <a:p>
            <a:pPr lvl="0"/>
            <a:r>
              <a:rPr lang="en-US" sz="1600" dirty="0">
                <a:solidFill>
                  <a:schemeClr val="tx1"/>
                </a:solidFill>
              </a:rPr>
              <a:t>Criminal history databases</a:t>
            </a:r>
          </a:p>
          <a:p>
            <a:pPr lvl="0"/>
            <a:r>
              <a:rPr lang="en-US" sz="1600" dirty="0">
                <a:solidFill>
                  <a:schemeClr val="tx1"/>
                </a:solidFill>
              </a:rPr>
              <a:t>Intelligence agency reports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The result:</a:t>
            </a:r>
            <a:r>
              <a:rPr lang="en-US" sz="1600" dirty="0">
                <a:solidFill>
                  <a:schemeClr val="tx1"/>
                </a:solidFill>
              </a:rPr>
              <a:t> fragmented, unstructured data across multiple systems → slow, manual, error-prone analysis → critical connections get missed.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42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091022" y="641663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Gits N’ Roses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3E7791-6225-CEB5-AF35-F5B05F8C370C}"/>
              </a:ext>
            </a:extLst>
          </p:cNvPr>
          <p:cNvSpPr txBox="1"/>
          <p:nvPr/>
        </p:nvSpPr>
        <p:spPr>
          <a:xfrm>
            <a:off x="2772643" y="390436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E16CC2A-E845-684C-D777-27A3B7E2B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551021"/>
              </p:ext>
            </p:extLst>
          </p:nvPr>
        </p:nvGraphicFramePr>
        <p:xfrm>
          <a:off x="236523" y="2625598"/>
          <a:ext cx="5593429" cy="29503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338870">
                  <a:extLst>
                    <a:ext uri="{9D8B030D-6E8A-4147-A177-3AD203B41FA5}">
                      <a16:colId xmlns:a16="http://schemas.microsoft.com/office/drawing/2014/main" val="2651529495"/>
                    </a:ext>
                  </a:extLst>
                </a:gridCol>
                <a:gridCol w="4254559">
                  <a:extLst>
                    <a:ext uri="{9D8B030D-6E8A-4147-A177-3AD203B41FA5}">
                      <a16:colId xmlns:a16="http://schemas.microsoft.com/office/drawing/2014/main" val="1604109278"/>
                    </a:ext>
                  </a:extLst>
                </a:gridCol>
              </a:tblGrid>
              <a:tr h="4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770833"/>
                  </a:ext>
                </a:extLst>
              </a:tr>
              <a:tr h="4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Python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Core language connecting the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664309"/>
                  </a:ext>
                </a:extLst>
              </a:tr>
              <a:tr h="4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spaCy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Named entity extraction (NER)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7891661"/>
                  </a:ext>
                </a:extLst>
              </a:tr>
              <a:tr h="4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Regex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Catches phone numbers, plates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246710"/>
                  </a:ext>
                </a:extLst>
              </a:tr>
              <a:tr h="4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/>
                        <a:t>NetworkX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Graph building + centrality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299149"/>
                  </a:ext>
                </a:extLst>
              </a:tr>
              <a:tr h="4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/>
                        <a:t>PyVis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Interactive graph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466853"/>
                  </a:ext>
                </a:extLst>
              </a:tr>
              <a:tr h="4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Streamlit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Dashboard/UI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79260"/>
                  </a:ext>
                </a:extLst>
              </a:tr>
            </a:tbl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D8CE75D-D5A7-37D5-7D06-2B701A7E272A}"/>
              </a:ext>
            </a:extLst>
          </p:cNvPr>
          <p:cNvSpPr/>
          <p:nvPr/>
        </p:nvSpPr>
        <p:spPr>
          <a:xfrm>
            <a:off x="6361940" y="2629664"/>
            <a:ext cx="2449427" cy="657411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10000"/>
                </a:solidFill>
              </a:rPr>
              <a:t>Data sources</a:t>
            </a:r>
          </a:p>
          <a:p>
            <a:pPr algn="ctr"/>
            <a:r>
              <a:rPr lang="en-US" sz="1100" dirty="0">
                <a:solidFill>
                  <a:srgbClr val="010000"/>
                </a:solidFill>
              </a:rPr>
              <a:t>Mock FIRs, CDRs, call records, reports</a:t>
            </a:r>
          </a:p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5FD479F-9123-A85C-DB2A-48C74ECB85D8}"/>
              </a:ext>
            </a:extLst>
          </p:cNvPr>
          <p:cNvSpPr/>
          <p:nvPr/>
        </p:nvSpPr>
        <p:spPr>
          <a:xfrm>
            <a:off x="9524171" y="2681584"/>
            <a:ext cx="2449427" cy="657411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10000"/>
                </a:solidFill>
              </a:rPr>
              <a:t>Text preprocessing</a:t>
            </a:r>
          </a:p>
          <a:p>
            <a:pPr algn="ctr"/>
            <a:r>
              <a:rPr lang="en-US" sz="1100" dirty="0">
                <a:solidFill>
                  <a:srgbClr val="010000"/>
                </a:solidFill>
              </a:rPr>
              <a:t>Extracts people, locations, </a:t>
            </a:r>
            <a:r>
              <a:rPr lang="en-US" sz="1000" dirty="0">
                <a:solidFill>
                  <a:srgbClr val="010000"/>
                </a:solidFill>
              </a:rPr>
              <a:t>orgs</a:t>
            </a:r>
            <a:r>
              <a:rPr lang="en-US" sz="1100" dirty="0">
                <a:solidFill>
                  <a:srgbClr val="010000"/>
                </a:solidFill>
              </a:rPr>
              <a:t> (</a:t>
            </a:r>
            <a:r>
              <a:rPr lang="en-US" sz="1100" dirty="0" err="1">
                <a:solidFill>
                  <a:srgbClr val="010000"/>
                </a:solidFill>
              </a:rPr>
              <a:t>spaCy</a:t>
            </a:r>
            <a:r>
              <a:rPr lang="en-US" sz="1100" dirty="0">
                <a:solidFill>
                  <a:srgbClr val="010000"/>
                </a:solidFill>
              </a:rPr>
              <a:t>)</a:t>
            </a:r>
          </a:p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6F59C0B-9988-B9C5-8F0E-A44FC60DAC16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8811367" y="2958370"/>
            <a:ext cx="7128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7673ABC-E752-489B-5452-81AB52D0C071}"/>
              </a:ext>
            </a:extLst>
          </p:cNvPr>
          <p:cNvSpPr/>
          <p:nvPr/>
        </p:nvSpPr>
        <p:spPr>
          <a:xfrm>
            <a:off x="6361940" y="3902516"/>
            <a:ext cx="2449426" cy="767556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10000"/>
                </a:solidFill>
              </a:rPr>
              <a:t>Graph construction</a:t>
            </a:r>
          </a:p>
          <a:p>
            <a:pPr algn="ctr"/>
            <a:r>
              <a:rPr lang="en-US" sz="1100" dirty="0">
                <a:solidFill>
                  <a:srgbClr val="010000"/>
                </a:solidFill>
              </a:rPr>
              <a:t>Builds entity relationship graph</a:t>
            </a:r>
            <a:endParaRPr lang="en-US" dirty="0">
              <a:solidFill>
                <a:srgbClr val="010000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5582959-B0EE-AD73-3F30-7E1DDBC593AC}"/>
              </a:ext>
            </a:extLst>
          </p:cNvPr>
          <p:cNvSpPr/>
          <p:nvPr/>
        </p:nvSpPr>
        <p:spPr>
          <a:xfrm>
            <a:off x="9524171" y="3954436"/>
            <a:ext cx="2449481" cy="76755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10000"/>
                </a:solidFill>
              </a:rPr>
              <a:t>Network analysis</a:t>
            </a:r>
          </a:p>
          <a:p>
            <a:pPr algn="ctr"/>
            <a:r>
              <a:rPr lang="en-US" sz="1200" dirty="0">
                <a:solidFill>
                  <a:srgbClr val="010000"/>
                </a:solidFill>
              </a:rPr>
              <a:t>Centrality scores identify key players (</a:t>
            </a:r>
            <a:r>
              <a:rPr lang="en-US" sz="1200" dirty="0" err="1">
                <a:solidFill>
                  <a:srgbClr val="010000"/>
                </a:solidFill>
              </a:rPr>
              <a:t>NetworkX</a:t>
            </a:r>
            <a:r>
              <a:rPr lang="en-US" sz="1200" dirty="0">
                <a:solidFill>
                  <a:srgbClr val="010000"/>
                </a:solidFill>
              </a:rPr>
              <a:t>)</a:t>
            </a:r>
            <a:endParaRPr lang="en-US" sz="12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5DD2739-E1C5-87B5-CA6B-05CCF46F54E8}"/>
              </a:ext>
            </a:extLst>
          </p:cNvPr>
          <p:cNvSpPr/>
          <p:nvPr/>
        </p:nvSpPr>
        <p:spPr>
          <a:xfrm>
            <a:off x="8107745" y="5356731"/>
            <a:ext cx="2832847" cy="76755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10000"/>
                </a:solidFill>
              </a:rPr>
              <a:t>Dashboard &amp; visualization</a:t>
            </a:r>
          </a:p>
          <a:p>
            <a:pPr algn="ctr"/>
            <a:r>
              <a:rPr lang="en-US" sz="1200" dirty="0">
                <a:solidFill>
                  <a:srgbClr val="010000"/>
                </a:solidFill>
              </a:rPr>
              <a:t>Interactive graph view (</a:t>
            </a:r>
            <a:r>
              <a:rPr lang="en-US" sz="1200" dirty="0" err="1">
                <a:solidFill>
                  <a:srgbClr val="010000"/>
                </a:solidFill>
              </a:rPr>
              <a:t>Streamlit</a:t>
            </a:r>
            <a:r>
              <a:rPr lang="en-US" sz="1200" dirty="0">
                <a:solidFill>
                  <a:srgbClr val="010000"/>
                </a:solidFill>
              </a:rPr>
              <a:t> + </a:t>
            </a:r>
            <a:r>
              <a:rPr lang="en-US" sz="1200" dirty="0" err="1">
                <a:solidFill>
                  <a:srgbClr val="010000"/>
                </a:solidFill>
              </a:rPr>
              <a:t>PyVis</a:t>
            </a:r>
            <a:r>
              <a:rPr lang="en-US" sz="1200" dirty="0">
                <a:solidFill>
                  <a:srgbClr val="010000"/>
                </a:solidFill>
              </a:rPr>
              <a:t>)</a:t>
            </a:r>
            <a:endParaRPr lang="en-US" sz="12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92C6FA-FAD3-C089-5D7B-296BFD6C72B1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8811366" y="4286294"/>
            <a:ext cx="7128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5D9DCC3-CA32-0B4A-53C3-D09A4C4F7C0B}"/>
              </a:ext>
            </a:extLst>
          </p:cNvPr>
          <p:cNvSpPr txBox="1"/>
          <p:nvPr/>
        </p:nvSpPr>
        <p:spPr>
          <a:xfrm>
            <a:off x="236523" y="1900422"/>
            <a:ext cx="342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Technologies to be used: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FAD464-83C3-7BF6-5BE5-AC33E502A1A8}"/>
              </a:ext>
            </a:extLst>
          </p:cNvPr>
          <p:cNvSpPr txBox="1"/>
          <p:nvPr/>
        </p:nvSpPr>
        <p:spPr>
          <a:xfrm>
            <a:off x="6361940" y="1885033"/>
            <a:ext cx="4017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2"/>
                </a:solidFill>
              </a:rPr>
              <a:t>Methodology / process flow: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F0E0470-89DA-A912-C51B-EBD62C037187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 rot="5400000">
            <a:off x="8886009" y="2039639"/>
            <a:ext cx="563521" cy="31622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D61A87BB-A671-D081-B491-0E6993E7D3EE}"/>
              </a:ext>
            </a:extLst>
          </p:cNvPr>
          <p:cNvCxnSpPr>
            <a:cxnSpLocks/>
            <a:stCxn id="37" idx="2"/>
            <a:endCxn id="40" idx="0"/>
          </p:cNvCxnSpPr>
          <p:nvPr/>
        </p:nvCxnSpPr>
        <p:spPr>
          <a:xfrm rot="5400000">
            <a:off x="9819172" y="4426991"/>
            <a:ext cx="634738" cy="12247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2ABEFC-9098-6DB5-A36F-2C93AC724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623143" y="3553578"/>
            <a:ext cx="431800" cy="4571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5136" y="5075234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Gits N’ Roses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293C9F-D7C8-1091-A28D-332880477200}"/>
              </a:ext>
            </a:extLst>
          </p:cNvPr>
          <p:cNvSpPr/>
          <p:nvPr/>
        </p:nvSpPr>
        <p:spPr>
          <a:xfrm>
            <a:off x="329773" y="1193347"/>
            <a:ext cx="7055164" cy="114300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10000"/>
                </a:solidFill>
              </a:rPr>
              <a:t>Feasibility</a:t>
            </a:r>
            <a:r>
              <a:rPr lang="en-US" dirty="0">
                <a:solidFill>
                  <a:srgbClr val="010000"/>
                </a:solidFill>
              </a:rPr>
              <a:t>: High for a working prototype — every pipeline stage uses a mature, pretrained, or well-documented library (no custom model training required), making it buildable within a short timeline.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CCE639-825B-293C-5512-FD3749C14BB2}"/>
              </a:ext>
            </a:extLst>
          </p:cNvPr>
          <p:cNvSpPr/>
          <p:nvPr/>
        </p:nvSpPr>
        <p:spPr>
          <a:xfrm>
            <a:off x="329773" y="2473105"/>
            <a:ext cx="7055164" cy="200282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Challenges identified</a:t>
            </a:r>
            <a:r>
              <a:rPr lang="en-US" dirty="0">
                <a:solidFill>
                  <a:schemeClr val="tx1"/>
                </a:solidFill>
              </a:rPr>
              <a:t>: Real-world crime data is far messier than clean mock data (typos, regional language, inconsistent formats)  Co-occurrence-based connections can produce false positives (two people mentioned together without an actual criminal link)Entity disambiguation (same name referring to different people) isn't handled by default </a:t>
            </a:r>
            <a:r>
              <a:rPr lang="en-US" dirty="0" err="1">
                <a:solidFill>
                  <a:schemeClr val="tx1"/>
                </a:solidFill>
              </a:rPr>
              <a:t>NERSolo</a:t>
            </a:r>
            <a:r>
              <a:rPr lang="en-US" dirty="0">
                <a:solidFill>
                  <a:schemeClr val="tx1"/>
                </a:solidFill>
              </a:rPr>
              <a:t>/independent criminals with no shared connections are harder to flag through pure network analysis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263463-6198-353D-ACC0-7E0A8E7404D8}"/>
              </a:ext>
            </a:extLst>
          </p:cNvPr>
          <p:cNvSpPr/>
          <p:nvPr/>
        </p:nvSpPr>
        <p:spPr>
          <a:xfrm>
            <a:off x="329773" y="4618038"/>
            <a:ext cx="7055164" cy="192087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10000"/>
                </a:solidFill>
              </a:rPr>
              <a:t>Mitigation strategies</a:t>
            </a:r>
            <a:r>
              <a:rPr lang="en-US" dirty="0">
                <a:solidFill>
                  <a:srgbClr val="010000"/>
                </a:solidFill>
              </a:rPr>
              <a:t>: Position the system as investigator decision-support, not an automated accusation tool — final judgment stays </a:t>
            </a:r>
            <a:r>
              <a:rPr lang="en-US" dirty="0" err="1">
                <a:solidFill>
                  <a:srgbClr val="010000"/>
                </a:solidFill>
              </a:rPr>
              <a:t>humanCombine</a:t>
            </a:r>
            <a:r>
              <a:rPr lang="en-US" dirty="0">
                <a:solidFill>
                  <a:srgbClr val="010000"/>
                </a:solidFill>
              </a:rPr>
              <a:t> co-occurrence with stronger signals (shared phone numbers, locations) to reduce false </a:t>
            </a:r>
            <a:r>
              <a:rPr lang="en-US" dirty="0" err="1">
                <a:solidFill>
                  <a:srgbClr val="010000"/>
                </a:solidFill>
              </a:rPr>
              <a:t>positivesExtend</a:t>
            </a:r>
            <a:r>
              <a:rPr lang="en-US" dirty="0">
                <a:solidFill>
                  <a:srgbClr val="010000"/>
                </a:solidFill>
              </a:rPr>
              <a:t> the model with anomaly/frequency-based detection to also catch solo actors, not just networked </a:t>
            </a:r>
            <a:r>
              <a:rPr lang="en-US" dirty="0" err="1">
                <a:solidFill>
                  <a:srgbClr val="010000"/>
                </a:solidFill>
              </a:rPr>
              <a:t>onesPlan</a:t>
            </a:r>
            <a:r>
              <a:rPr lang="en-US" dirty="0">
                <a:solidFill>
                  <a:srgbClr val="010000"/>
                </a:solidFill>
              </a:rPr>
              <a:t> a human-in-the-loop verification step before any flagged connection is acted on</a:t>
            </a:r>
            <a:endParaRPr lang="en-IN" dirty="0">
              <a:solidFill>
                <a:srgbClr val="01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Gits N’ Roses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066D89-ABD5-A467-1640-7B42E6C92945}"/>
              </a:ext>
            </a:extLst>
          </p:cNvPr>
          <p:cNvSpPr/>
          <p:nvPr/>
        </p:nvSpPr>
        <p:spPr>
          <a:xfrm>
            <a:off x="450851" y="4980736"/>
            <a:ext cx="6610350" cy="155658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Economic/scalability benefi</a:t>
            </a:r>
            <a:r>
              <a:rPr lang="en-US" dirty="0">
                <a:solidFill>
                  <a:schemeClr val="tx1"/>
                </a:solidFill>
              </a:rPr>
              <a:t>t: Built on open-source, low-cost tools — no expensive proprietary software or large-scale ML infrastructure needed to deploy at a department level.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8B6A13-8534-591A-F057-25478B4378B1}"/>
              </a:ext>
            </a:extLst>
          </p:cNvPr>
          <p:cNvSpPr/>
          <p:nvPr/>
        </p:nvSpPr>
        <p:spPr>
          <a:xfrm>
            <a:off x="450850" y="1439023"/>
            <a:ext cx="6553200" cy="141605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Impact on target audience</a:t>
            </a:r>
            <a:r>
              <a:rPr lang="en-US" dirty="0">
                <a:solidFill>
                  <a:schemeClr val="tx1"/>
                </a:solidFill>
              </a:rPr>
              <a:t>: Reduces investigator time spent manually cross-referencing records; surfaces hidden connections that manual review would likely miss; helps prioritize which individuals to investigate first.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528FAE-C7F5-7641-2173-F86DB49ADDE3}"/>
              </a:ext>
            </a:extLst>
          </p:cNvPr>
          <p:cNvSpPr/>
          <p:nvPr/>
        </p:nvSpPr>
        <p:spPr>
          <a:xfrm>
            <a:off x="450850" y="3198722"/>
            <a:ext cx="6610350" cy="132080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</a:rPr>
              <a:t>Social/governance benefit</a:t>
            </a:r>
            <a:r>
              <a:rPr lang="en-US" dirty="0">
                <a:solidFill>
                  <a:schemeClr val="tx1"/>
                </a:solidFill>
              </a:rPr>
              <a:t>: Supports NCRB's broader goal of faster, more data-driven crime investigation; can be extended to support women's safety casework (given the Women Safety Division context) by surfacing repeat-offender patterns across cases.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Gits N’ Roses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92105C-D124-AB33-EF84-FA9E3DD1605E}"/>
              </a:ext>
            </a:extLst>
          </p:cNvPr>
          <p:cNvSpPr/>
          <p:nvPr/>
        </p:nvSpPr>
        <p:spPr>
          <a:xfrm>
            <a:off x="329774" y="6074802"/>
            <a:ext cx="9073019" cy="558965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hlinkClick r:id="rId4"/>
              </a:rPr>
              <a:t>https://digital.cic.gba.gob.ar/server/api/core/bitstreams/6bdf5e45-2f17-4db6-af51-062abafe4743/content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29F28C3-F690-8C96-D316-49A572569216}"/>
              </a:ext>
            </a:extLst>
          </p:cNvPr>
          <p:cNvSpPr/>
          <p:nvPr/>
        </p:nvSpPr>
        <p:spPr>
          <a:xfrm>
            <a:off x="329773" y="3343954"/>
            <a:ext cx="4318427" cy="38191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r>
              <a:rPr lang="en-US" sz="1400" dirty="0">
                <a:hlinkClick r:id="rId5"/>
              </a:rPr>
              <a:t>https://dspace.library.uu.nl/bitstream/handle/1874/356185/01.NERclinjournal.pdf?sequence=1</a:t>
            </a:r>
            <a:endParaRPr lang="en-US" sz="1400" dirty="0">
              <a:solidFill>
                <a:srgbClr val="010000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37FE648-0806-F539-EE83-C445F7E43D22}"/>
              </a:ext>
            </a:extLst>
          </p:cNvPr>
          <p:cNvSpPr/>
          <p:nvPr/>
        </p:nvSpPr>
        <p:spPr>
          <a:xfrm>
            <a:off x="329773" y="1220148"/>
            <a:ext cx="4318427" cy="204779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010000"/>
                </a:solidFill>
              </a:rPr>
              <a:t>Schraagen</a:t>
            </a:r>
            <a:r>
              <a:rPr lang="en-US" dirty="0">
                <a:solidFill>
                  <a:srgbClr val="010000"/>
                </a:solidFill>
              </a:rPr>
              <a:t> et al. (2017) confirm NER is effective on real police complaint text but identify systematic recall/confusion errors — a limitation our system acknowledges and would need to address with domain-specific fine-tuning in production.</a:t>
            </a:r>
          </a:p>
        </p:txBody>
      </p:sp>
      <p:sp>
        <p:nvSpPr>
          <p:cNvPr id="17410" name="Rectangle: Rounded Corners 17409">
            <a:extLst>
              <a:ext uri="{FF2B5EF4-FFF2-40B4-BE49-F238E27FC236}">
                <a16:creationId xmlns:a16="http://schemas.microsoft.com/office/drawing/2014/main" id="{5820B7A8-3020-5B1C-A67D-3AD2608589E5}"/>
              </a:ext>
            </a:extLst>
          </p:cNvPr>
          <p:cNvSpPr/>
          <p:nvPr/>
        </p:nvSpPr>
        <p:spPr>
          <a:xfrm>
            <a:off x="329774" y="3888750"/>
            <a:ext cx="4318426" cy="219075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10000"/>
                </a:solidFill>
              </a:rPr>
              <a:t>Álvarez &amp; Antonelli (2024) apply </a:t>
            </a:r>
            <a:r>
              <a:rPr lang="en-US" dirty="0" err="1">
                <a:solidFill>
                  <a:srgbClr val="010000"/>
                </a:solidFill>
              </a:rPr>
              <a:t>spaCy</a:t>
            </a:r>
            <a:r>
              <a:rPr lang="en-US" dirty="0">
                <a:solidFill>
                  <a:srgbClr val="010000"/>
                </a:solidFill>
              </a:rPr>
              <a:t>-based NER to police complaints to automatically generate link maps between related cases — validating the core NER-to-graph approach our system extends with network-wide centrality analysis.</a:t>
            </a:r>
          </a:p>
        </p:txBody>
      </p:sp>
      <p:sp>
        <p:nvSpPr>
          <p:cNvPr id="17428" name="TextBox 17427">
            <a:extLst>
              <a:ext uri="{FF2B5EF4-FFF2-40B4-BE49-F238E27FC236}">
                <a16:creationId xmlns:a16="http://schemas.microsoft.com/office/drawing/2014/main" id="{4B490F67-77DA-0A44-F4AD-EBA58E40C803}"/>
              </a:ext>
            </a:extLst>
          </p:cNvPr>
          <p:cNvSpPr txBox="1"/>
          <p:nvPr/>
        </p:nvSpPr>
        <p:spPr>
          <a:xfrm>
            <a:off x="6027712" y="574094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Representation of a complaint story with the Vis tool</a:t>
            </a:r>
          </a:p>
        </p:txBody>
      </p:sp>
      <p:sp>
        <p:nvSpPr>
          <p:cNvPr id="17430" name="Rectangle: Rounded Corners 17429">
            <a:extLst>
              <a:ext uri="{FF2B5EF4-FFF2-40B4-BE49-F238E27FC236}">
                <a16:creationId xmlns:a16="http://schemas.microsoft.com/office/drawing/2014/main" id="{B087366D-3852-468F-D376-EF98324645D0}"/>
              </a:ext>
            </a:extLst>
          </p:cNvPr>
          <p:cNvSpPr/>
          <p:nvPr/>
        </p:nvSpPr>
        <p:spPr>
          <a:xfrm>
            <a:off x="5068862" y="3530600"/>
            <a:ext cx="6634188" cy="2516189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31" name="Rectangle: Rounded Corners 17430">
            <a:extLst>
              <a:ext uri="{FF2B5EF4-FFF2-40B4-BE49-F238E27FC236}">
                <a16:creationId xmlns:a16="http://schemas.microsoft.com/office/drawing/2014/main" id="{D591F3CD-6A69-C3EE-79EA-0B674D3E60D5}"/>
              </a:ext>
            </a:extLst>
          </p:cNvPr>
          <p:cNvSpPr/>
          <p:nvPr/>
        </p:nvSpPr>
        <p:spPr>
          <a:xfrm>
            <a:off x="5068862" y="1160322"/>
            <a:ext cx="6634188" cy="2288128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435" name="Picture 17434">
            <a:extLst>
              <a:ext uri="{FF2B5EF4-FFF2-40B4-BE49-F238E27FC236}">
                <a16:creationId xmlns:a16="http://schemas.microsoft.com/office/drawing/2014/main" id="{AC9A5C31-10EE-27C8-3685-71B80F88A7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681" y="1191860"/>
            <a:ext cx="4146549" cy="1783504"/>
          </a:xfrm>
          <a:prstGeom prst="rect">
            <a:avLst/>
          </a:prstGeom>
        </p:spPr>
      </p:pic>
      <p:sp>
        <p:nvSpPr>
          <p:cNvPr id="17439" name="TextBox 17438">
            <a:extLst>
              <a:ext uri="{FF2B5EF4-FFF2-40B4-BE49-F238E27FC236}">
                <a16:creationId xmlns:a16="http://schemas.microsoft.com/office/drawing/2014/main" id="{BC6808E7-8BBD-09EE-4746-9EE96593D6BE}"/>
              </a:ext>
            </a:extLst>
          </p:cNvPr>
          <p:cNvSpPr txBox="1"/>
          <p:nvPr/>
        </p:nvSpPr>
        <p:spPr>
          <a:xfrm>
            <a:off x="5068862" y="2896801"/>
            <a:ext cx="6634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Graph showing type confusion between types </a:t>
            </a:r>
            <a:r>
              <a:rPr lang="en-US" sz="1400" dirty="0" err="1"/>
              <a:t>recognised</a:t>
            </a:r>
            <a:r>
              <a:rPr lang="en-US" sz="1400" dirty="0"/>
              <a:t> by the algorithm and manually</a:t>
            </a:r>
          </a:p>
          <a:p>
            <a:pPr algn="ctr"/>
            <a:r>
              <a:rPr lang="en-US" sz="1400" dirty="0"/>
              <a:t>assigned types. The full confusion table is included in the Appendix.</a:t>
            </a:r>
          </a:p>
        </p:txBody>
      </p:sp>
      <p:pic>
        <p:nvPicPr>
          <p:cNvPr id="17470" name="Picture 17469">
            <a:extLst>
              <a:ext uri="{FF2B5EF4-FFF2-40B4-BE49-F238E27FC236}">
                <a16:creationId xmlns:a16="http://schemas.microsoft.com/office/drawing/2014/main" id="{2DE403DF-C3C0-7894-34B0-ACD19F6F30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2548" y="3550432"/>
            <a:ext cx="4809011" cy="226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7935</TotalTime>
  <Words>1002</Words>
  <Application>Microsoft Office PowerPoint</Application>
  <PresentationFormat>Widescreen</PresentationFormat>
  <Paragraphs>106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Arial</vt:lpstr>
      <vt:lpstr>Bookman Old Style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Pritishnu Bera</cp:lastModifiedBy>
  <cp:revision>182</cp:revision>
  <dcterms:created xsi:type="dcterms:W3CDTF">2013-12-12T18:46:50Z</dcterms:created>
  <dcterms:modified xsi:type="dcterms:W3CDTF">2026-09-04T11:49:20Z</dcterms:modified>
  <cp:category/>
</cp:coreProperties>
</file>